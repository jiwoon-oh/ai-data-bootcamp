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층별 ATT (%p)</c:v>
                </c:pt>
              </c:strCache>
            </c:strRef>
          </c:tx>
          <c:spPr>
            <a:solidFill>
              <a:srgbClr val="6C5CE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E4258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5C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5C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C5C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A2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53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5.9개</c:v>
                  </c:pt>
                  <c:pt idx="1">
                    <c:v>8.7개</c:v>
                  </c:pt>
                  <c:pt idx="2">
                    <c:v>12.8개</c:v>
                  </c:pt>
                  <c:pt idx="3">
                    <c:v>19.6개</c:v>
                  </c:pt>
                  <c:pt idx="4">
                    <c:v>38.5개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-12.99</c:v>
                </c:pt>
                <c:pt idx="1">
                  <c:v>-10.37</c:v>
                </c:pt>
                <c:pt idx="2">
                  <c:v>-6.61</c:v>
                </c:pt>
                <c:pt idx="3">
                  <c:v>-1.28</c:v>
                </c:pt>
                <c:pt idx="4">
                  <c:v>2.41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3E4258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68BA3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-1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모델</c:v>
                </c:pt>
              </c:strCache>
            </c:strRef>
          </c:tx>
          <c:spPr>
            <a:solidFill>
              <a:srgbClr val="6C5CE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E4258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상위 50칸</c:v>
                  </c:pt>
                  <c:pt idx="1">
                    <c:v>상위 200칸</c:v>
                  </c:pt>
                  <c:pt idx="2">
                    <c:v>상위 2,000칸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</c:v>
                </c:pt>
                <c:pt idx="1">
                  <c:v>0.555</c:v>
                </c:pt>
                <c:pt idx="2">
                  <c:v>0.393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점포수 규칙</c:v>
                </c:pt>
              </c:strCache>
            </c:strRef>
          </c:tx>
          <c:spPr>
            <a:solidFill>
              <a:srgbClr val="C3C7D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E4258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상위 50칸</c:v>
                  </c:pt>
                  <c:pt idx="1">
                    <c:v>상위 200칸</c:v>
                  </c:pt>
                  <c:pt idx="2">
                    <c:v>상위 2,000칸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0.38</c:v>
                </c:pt>
                <c:pt idx="1">
                  <c:v>0.52</c:v>
                </c:pt>
                <c:pt idx="2">
                  <c:v>0.385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3E4258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68BA3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68BA3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단순 업종 비교는 시작점일 뿐입니다. 10개 중 가장 높은 업종을 사후에 고른 것이므로, 그 행위 자체가 격차를 만듭니다. 순열검정으로 그 크기를 재 보니 격차의 88%가 선택 효과였습니다.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슬라이드입니다. 부호가 뒤집힙니다. 그러나 평균 하나로 인용하면 안 됩니다 — 점포가 큰 층(38.5개)에서는 방향이 반대입니다. 발표에서 −5.77%p를 말할 때는 반드시 이 막대그래프를 같이 보여줘야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모두 “상식과 다른” 결과입니다. 유동인구가 안전을 뜻하지 않는다는 것, 그리고 순감소율이라는 지표 자체가 위험이 아니라 사건 크기를 재고 있다는 것 — 이 두 개가 뒤의 제언으로 곧장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AUC만 보면 실패처럼 보입니다. 그런데 실무는 전체를 지원하지 않고 손이 닿는 수십 곳을 찍습니다. 그 구간에서 정밀도가 두 배이고, 두 목록이 6%밖에 안 겹칩니다. 도입 근거는 여기에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인사이트 세 개가 각각 제언으로 이어집니다. 제언 ①은 배정 방식 자체를 바꾸는 것이고, ②③은 지금 쓰이고 있는 문구와 지표를 고치는 것입니다. 마지막 줄의 적용 범위와 층별 이질성은 반드시 함께 말해야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B1D2A"/>
          </a:solidFill>
          <a:ln w="12700">
            <a:solidFill>
              <a:srgbClr val="1B1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정의와 접근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업종을 비교하는 것만으로는 답할 수 없다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200400" cy="4114800"/>
          </a:xfrm>
          <a:prstGeom prst="roundRect">
            <a:avLst>
              <a:gd name="adj" fmla="val 2571"/>
            </a:avLst>
          </a:prstGeom>
          <a:solidFill>
            <a:srgbClr val="F1F2F7"/>
          </a:solidFill>
          <a:ln w="12700">
            <a:solidFill>
              <a:srgbClr val="E1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대상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995,377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점포 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160,352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22960" y="3630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외식 10업종 × 13분기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67,475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표본 · 점포 5개 이상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946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25.5%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22960" y="5330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순감소 양성률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41648" y="1783080"/>
            <a:ext cx="7598664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41648" y="2020824"/>
            <a:ext cx="82296" cy="731520"/>
          </a:xfrm>
          <a:prstGeom prst="roundRect">
            <a:avLst>
              <a:gd name="adj" fmla="val 44444"/>
            </a:avLst>
          </a:prstGeom>
          <a:solidFill>
            <a:srgbClr val="D9536B"/>
          </a:solidFill>
          <a:ln w="12700">
            <a:solidFill>
              <a:srgbClr val="D95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1929384"/>
            <a:ext cx="7159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단순 격차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370832" y="2240280"/>
            <a:ext cx="7114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골목상권 한식음식점의 순감소율이 나머지 9개 업종보다 +2.4%p 높다. 여기서 멈추면 “한식이 위험하다”가 결론이 된다.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41648" y="3209544"/>
            <a:ext cx="7598664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41648" y="344728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C97A2E"/>
          </a:solidFill>
          <a:ln w="12700">
            <a:solidFill>
              <a:srgbClr val="C97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3355848"/>
            <a:ext cx="7159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그런데 그 업종은 10개 중 최댓값이었다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70832" y="3666744"/>
            <a:ext cx="7114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순열검정 1,000회 — 무작위로 업종을 섞어도 최댓값 업종은 평균 +2.1%p 를 얻는다.  p = 0.344.  격차의 88% 가 “가장 큰 것을 골랐다”는 사실만으로 설명된다.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41648" y="4636008"/>
            <a:ext cx="7598664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41648" y="487375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6C5CE0"/>
          </a:solidFill>
          <a:ln w="12700">
            <a:solidFill>
              <a:srgbClr val="6C5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4782312"/>
            <a:ext cx="7159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그래서 조건을 맞춘다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370832" y="5093208"/>
            <a:ext cx="7114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성향점수 매칭 — 점포수·유동인구·영역면적·상권 전체규모 4개 공변량으로 1:1 캘리퍼 매칭.  7,042쌍, 매칭 후 최대 SMD 0.032.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 서울 열린데이터광장 상권분석서비스 5개 테이블 · 2023Q1–2026Q1 (13분기)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B1D2A"/>
          </a:solidFill>
          <a:ln w="12700">
            <a:solidFill>
              <a:srgbClr val="1B1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결과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맞추면 부호가 뒤집힌다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11091672" cy="1133856"/>
          </a:xfrm>
          <a:prstGeom prst="roundRect">
            <a:avLst>
              <a:gd name="adj" fmla="val 7258"/>
            </a:avLst>
          </a:prstGeom>
          <a:solidFill>
            <a:srgbClr val="F1F2F7"/>
          </a:solidFill>
          <a:ln w="12700">
            <a:solidFill>
              <a:srgbClr val="E1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28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전 격차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0665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+2.4%p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3225546" y="1901952"/>
            <a:ext cx="0" cy="786384"/>
          </a:xfrm>
          <a:prstGeom prst="line">
            <a:avLst/>
          </a:prstGeom>
          <a:noFill/>
          <a:ln w="12700">
            <a:solidFill>
              <a:srgbClr val="E1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9866" y="1828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ATT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9866" y="20665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−5.77%p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5884164" y="1901952"/>
            <a:ext cx="0" cy="786384"/>
          </a:xfrm>
          <a:prstGeom prst="line">
            <a:avLst/>
          </a:prstGeom>
          <a:noFill/>
          <a:ln w="12700">
            <a:solidFill>
              <a:srgbClr val="E1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8484" y="1828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이중강건 추정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58484" y="20665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−6.15%p</a:t>
            </a:r>
            <a:endParaRPr lang="en-US" sz="3100" dirty="0"/>
          </a:p>
        </p:txBody>
      </p:sp>
      <p:sp>
        <p:nvSpPr>
          <p:cNvPr id="15" name="Shape 13"/>
          <p:cNvSpPr/>
          <p:nvPr/>
        </p:nvSpPr>
        <p:spPr>
          <a:xfrm>
            <a:off x="8542782" y="1901952"/>
            <a:ext cx="0" cy="786384"/>
          </a:xfrm>
          <a:prstGeom prst="line">
            <a:avLst/>
          </a:prstGeom>
          <a:noFill/>
          <a:ln w="12700">
            <a:solidFill>
              <a:srgbClr val="E1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17102" y="1828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후 최대 SMD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17102" y="20665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F9E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0.032</a:t>
            </a:r>
            <a:endParaRPr lang="en-US" sz="3100" dirty="0"/>
          </a:p>
        </p:txBody>
      </p:sp>
      <p:sp>
        <p:nvSpPr>
          <p:cNvPr id="18" name="Shape 16"/>
          <p:cNvSpPr/>
          <p:nvPr/>
        </p:nvSpPr>
        <p:spPr>
          <a:xfrm>
            <a:off x="548640" y="3054096"/>
            <a:ext cx="46177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218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4가지 방법이 같은 답을 낸다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36027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캘리퍼 1:1 매칭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66160" y="3602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−5.77%p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9867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이중강건 (AIPW)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66160" y="39867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−6.15%p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370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보정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66160" y="4370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−5.79%p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군집 부트스트랩 CI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66160" y="4754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−4.23%p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266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McNemar p = 5.0e−15 · 매칭률 70.7%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55412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부호가 반대로 뒤집힌다 — 조건이 같다면 한식은 오히려 덜 감소한다.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40680" y="3054096"/>
            <a:ext cx="619963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15000" y="32186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−5.77%p 는 “요약”이 아니다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715000" y="35112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Woolf 동질성 검정 p &lt; 0.0001 — 점포 규모 층별로 ATT 가 부호까지 바뀐다.</a:t>
            </a:r>
            <a:endParaRPr lang="en-US" sz="10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5623560" y="3803904"/>
          <a:ext cx="5833872" cy="20482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= 매칭쌍을 처리군 점포수 5분위로 나눈 것 · 라벨은 각 층의 평균 점포수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B1D2A"/>
          </a:solidFill>
          <a:ln w="12700">
            <a:solidFill>
              <a:srgbClr val="1B1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메커니즘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역전을 만든 건 규모 하나, 그리고 라벨의 산술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95681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격차를 움직였나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340864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−5.74%p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04672" y="29626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 규모만 고정했을 때의 예측 격차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3456432"/>
            <a:ext cx="3008376" cy="0"/>
          </a:xfrm>
          <a:prstGeom prst="line">
            <a:avLst/>
          </a:prstGeom>
          <a:noFill/>
          <a:ln w="12700">
            <a:solidFill>
              <a:srgbClr val="E1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584448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공변량을 전부 고정한 값(−5.79%p)과 사실상 같다. 역전은 규모 하나가 만든다.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유동인구만 고정하면 오히려 +3.57%p — 기여도 0. 회귀에서도 유의하지 않다 (p = .078).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178308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0288" y="195681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유동인구가 무의미한 이유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0288" y="2340864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9E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= .865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90288" y="29626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고정효과 모형에서의 유동인구 계수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90288" y="3456432"/>
            <a:ext cx="3008376" cy="0"/>
          </a:xfrm>
          <a:prstGeom prst="line">
            <a:avLst/>
          </a:prstGeom>
          <a:noFill/>
          <a:ln w="12700">
            <a:solidFill>
              <a:srgbClr val="E1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3584448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겹으로 확인했다. ① 개업 +0.098 · 폐업 +0.053 — 유동인구는 둘 다 늘려 순증감에서 상쇄된다.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칸 고정효과로 시간불변 요인을 흡수하면 개업 p=.865 · 폐업 p=.963 로 사라진다.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19872" y="178308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75904" y="195681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순감소율이 실제로 재는 것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75904" y="2340864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32배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75904" y="29626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발생 계수 ÷ 조건부 위험 계수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75904" y="3456432"/>
            <a:ext cx="3008376" cy="0"/>
          </a:xfrm>
          <a:prstGeom prst="line">
            <a:avLst/>
          </a:prstGeom>
          <a:noFill/>
          <a:ln w="12700">
            <a:solidFill>
              <a:srgbClr val="E1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3584448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P(순감소) = P(사건) × P(순감소|사건) 로 정확히 분해된다.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log(점포수) 계수는 사건 단계에서 +1.483, 조건부 위험 단계에서 +0.046.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 순감소율은 위험이 아니라 “사건이 일어났는가”를 재고 있다.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반사실 시뮬레이션 · 음이항 GLM(로그 점포수 오프셋) · 칸 고정효과 · 2단계 분해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B1D2A"/>
          </a:solidFill>
          <a:ln w="12700">
            <a:solidFill>
              <a:srgbClr val="1B1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성능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전체로는 평범하고, 상위 구간에서 갈린다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61772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568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대상은 서울시 공식 상권변화지표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2494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분기 순감소를 얼마나 맞히는가 (Lift 1.0 = 무작위)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2578608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77240"/>
                <a:gridCol w="96012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칸수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순감소율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Lift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HL · 상권축소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974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24.3%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953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0.937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1,452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23.3%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0.899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22.9%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0.882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2,263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29.4%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E425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1.133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22960" y="427939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「상권축소」 진단을 받은 상권이 오히려 평균보다 덜 감소한다. 이 지표만으로 다음 분기를 찍을 수 없다.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846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피처가 아니라 기준선으로만 사용 — 폐업 기록으로 만들어져 라벨과 원천이 같다.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40680" y="1783080"/>
            <a:ext cx="6199632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B8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1500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칸을 찍을 것인가 — 정밀도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715000" y="2249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B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강한 단순 규칙은 “점포 수가 많은 순서대로 찍기”다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623560" y="2542032"/>
          <a:ext cx="5833872" cy="2121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2"/>
          <p:cNvSpPr/>
          <p:nvPr/>
        </p:nvSpPr>
        <p:spPr>
          <a:xfrm>
            <a:off x="5715000" y="473659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목록의 겹침은 상위 50칸에서 6%. 모델이 점포 수를 다시 계산하는 것이었다면 두 목록은 같았을 것이다.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5577840"/>
            <a:ext cx="11091672" cy="603504"/>
          </a:xfrm>
          <a:prstGeom prst="roundRect">
            <a:avLst>
              <a:gd name="adj" fmla="val 13636"/>
            </a:avLst>
          </a:prstGeom>
          <a:solidFill>
            <a:srgbClr val="F1F2F7"/>
          </a:solidFill>
          <a:ln w="12700">
            <a:solidFill>
              <a:srgbClr val="E1E3E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5577840"/>
            <a:ext cx="10543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롤링 6분기 AUC 0.666 ± 0.010</a:t>
            </a:r>
            <a:pPr indent="0" marL="0">
              <a:buNone/>
            </a:pPr>
            <a:r>
              <a:rPr lang="en-US" sz="115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전체 줄세우기 기여 +0.012 — 작다     </a:t>
            </a:r>
            <a:pPr indent="0" marL="0">
              <a:buNone/>
            </a:pPr>
            <a:r>
              <a:rPr lang="en-US" sz="1150" b="1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50칸 정밀도 2.0배</a:t>
            </a:r>
            <a:pPr indent="0" marL="0">
              <a:buNone/>
            </a:pPr>
            <a:r>
              <a:rPr lang="en-US" sz="1150" dirty="0">
                <a:solidFill>
                  <a:srgbClr val="3E42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값어치는 상위 구간과 소규모 층에 몰려 있다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C5CE0"/>
          </a:solidFill>
          <a:ln w="12700">
            <a:solidFill>
              <a:srgbClr val="6C5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A9AE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인사이트와 비즈니스 제언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바꿔야 하는가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인사이트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9264" y="2121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업종은 위험의 대리변수가 아니다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432304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B4B9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 간 격차의 88%는 “가장 높은 것을 골랐다”는 선택 효과이고, 조건을 맞추면 부호가 뒤집힌다.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4198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" y="34198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위험은 규모에 있고 유동인구에는 없다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3730752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B4B9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역전은 점포 규모 하나가 만든다. 유동인구는 개업과 폐업을 함께 늘려 순증감에서 상쇄된다.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718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5C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9264" y="47183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지표가 재는 것은 위험이 아니다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502920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B4B9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순감소율은 “사건이 일어났는가”를 잰다 — 사건 계수 +1.483 대 조건부 위험 +0.046.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21808" y="1783080"/>
            <a:ext cx="0" cy="4114800"/>
          </a:xfrm>
          <a:prstGeom prst="line">
            <a:avLst/>
          </a:prstGeom>
          <a:noFill/>
          <a:ln w="12700">
            <a:solidFill>
              <a:srgbClr val="3438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755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3FBF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제언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2121408"/>
            <a:ext cx="5971032" cy="822960"/>
          </a:xfrm>
          <a:prstGeom prst="roundRect">
            <a:avLst>
              <a:gd name="adj" fmla="val 8889"/>
            </a:avLst>
          </a:prstGeom>
          <a:solidFill>
            <a:srgbClr val="252838"/>
          </a:solidFill>
          <a:ln w="12700">
            <a:solidFill>
              <a:srgbClr val="3438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88736" y="2212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F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 ①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11696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 기준을 “업종”에서 “칸 위험점수”로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11696" y="2505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9198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  상위 50칸 정밀도 0.760 vs 0.380 · 겹침 6%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3081528"/>
            <a:ext cx="5971032" cy="822960"/>
          </a:xfrm>
          <a:prstGeom prst="roundRect">
            <a:avLst>
              <a:gd name="adj" fmla="val 8889"/>
            </a:avLst>
          </a:prstGeom>
          <a:solidFill>
            <a:srgbClr val="252838"/>
          </a:solidFill>
          <a:ln w="12700">
            <a:solidFill>
              <a:srgbClr val="3438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8736" y="3172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F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 ②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11696" y="3154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상담의 “유동인구 = 안전” 문구 교체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11696" y="3465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9198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  유동인구 기여 0 · 칸 고정효과 p = .865 / .963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4041648"/>
            <a:ext cx="5971032" cy="822960"/>
          </a:xfrm>
          <a:prstGeom prst="roundRect">
            <a:avLst>
              <a:gd name="adj" fmla="val 8889"/>
            </a:avLst>
          </a:prstGeom>
          <a:solidFill>
            <a:srgbClr val="252838"/>
          </a:solidFill>
          <a:ln w="12700">
            <a:solidFill>
              <a:srgbClr val="3438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4133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F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 ③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11696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대시보드에 순감소율 단독 게시 중단, 폐업률 병기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1696" y="4425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9198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  2단계 분해 — 사건 +1.483 대 위험 +0.046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0" y="5001768"/>
            <a:ext cx="5971032" cy="822960"/>
          </a:xfrm>
          <a:prstGeom prst="roundRect">
            <a:avLst>
              <a:gd name="adj" fmla="val 8889"/>
            </a:avLst>
          </a:prstGeom>
          <a:solidFill>
            <a:srgbClr val="252838"/>
          </a:solidFill>
          <a:ln w="12700">
            <a:solidFill>
              <a:srgbClr val="3438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88736" y="5093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F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 ④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11696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민감도가 낮은 업종엔 상권 대응 대신 업태 수단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11696" y="53858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9198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  ε² 호프 0.1202 vs 치킨 0.0002 — 600배 차이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60350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범위  골목상권 · 점포 5개 이상 칸 · 외식 10업종.  −5.77%p 를 인용할 때는 층별 표를 반드시 함께 제시할 것 (Woolf p &lt; 0.0001).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2026-08-25T02:58:36Z</dcterms:created>
  <dcterms:modified xsi:type="dcterms:W3CDTF">2026-08-25T02:58:36Z</dcterms:modified>
</cp:coreProperties>
</file>